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3D63"/>
    <a:srgbClr val="5A9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6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8486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D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463040"/>
            <a:ext cx="4572000" cy="4572000"/>
          </a:xfrm>
          <a:prstGeom prst="ellipse">
            <a:avLst/>
          </a:prstGeom>
          <a:solidFill>
            <a:srgbClr val="5A94D4">
              <a:alpha val="20000"/>
            </a:srgbClr>
          </a:solidFill>
          <a:ln/>
        </p:spPr>
        <p:txBody>
          <a:bodyPr/>
          <a:lstStyle/>
          <a:p>
            <a:endParaRPr lang="en-NG" dirty="0"/>
          </a:p>
        </p:txBody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5A94D4">
              <a:alpha val="15000"/>
            </a:srgbClr>
          </a:solidFill>
          <a:ln/>
        </p:spPr>
        <p:txBody>
          <a:bodyPr/>
          <a:lstStyle/>
          <a:p>
            <a:endParaRPr lang="en-NG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vs. Other Fuel Types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Used Car Sales Analysis for Discount Motors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hybrid and electric vehicle sales ahead of the UK's 2030 transition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1005840" cy="0"/>
          </a:xfrm>
          <a:prstGeom prst="line">
            <a:avLst/>
          </a:prstGeom>
          <a:noFill/>
          <a:ln w="25400">
            <a:solidFill>
              <a:srgbClr val="5A9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5321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Marketing Team, Discount Motors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Team 6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July 2026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EEBC51-C427-74B0-A0B2-4D5D65FA280D}"/>
              </a:ext>
            </a:extLst>
          </p:cNvPr>
          <p:cNvSpPr txBox="1"/>
          <p:nvPr/>
        </p:nvSpPr>
        <p:spPr>
          <a:xfrm>
            <a:off x="853440" y="1554480"/>
            <a:ext cx="55575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Project Pretention by team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Background &amp; Goals</a:t>
            </a:r>
            <a:endParaRPr lang="en-US" sz="3000" dirty="0">
              <a:solidFill>
                <a:srgbClr val="1A3D6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6400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UK will require all new cars sold to be zero-emission from 2030. 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will reshape buyer expectations well before then, petrol and diesel vehicles are likely to lose value faster, while buyers increasingly weigh a car's future value and running cost.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Motors sold zero electric vehicles in the last six months, so hybrids are currently the only electrified option in its sales data.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0" y="1280160"/>
            <a:ext cx="4297680" cy="1554480"/>
          </a:xfrm>
          <a:prstGeom prst="roundRect">
            <a:avLst>
              <a:gd name="adj" fmla="val 5882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0" y="14173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2030</a:t>
            </a:r>
            <a:endParaRPr lang="en-US" sz="4400" dirty="0">
              <a:solidFill>
                <a:srgbClr val="1A3D63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589520" y="2286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ban on new petrol/diesel car sales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0" y="3017520"/>
            <a:ext cx="4297680" cy="1554480"/>
          </a:xfrm>
          <a:prstGeom prst="roundRect">
            <a:avLst>
              <a:gd name="adj" fmla="val 5882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0" y="315468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>
              <a:solidFill>
                <a:srgbClr val="1A3D63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589520" y="4023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vehicles sold in the last six months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0" y="4754880"/>
            <a:ext cx="4297680" cy="1188720"/>
          </a:xfrm>
          <a:prstGeom prst="roundRect">
            <a:avLst>
              <a:gd name="adj" fmla="val 7692"/>
            </a:avLst>
          </a:prstGeom>
          <a:solidFill>
            <a:srgbClr val="1A3D63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0" y="47548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grow hybrid &amp; EV sales next year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Motors  |  Hybrid vs. Other Fuel Types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>
              <a:solidFill>
                <a:srgbClr val="1A3D63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3444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1A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do hybrid car sales differ from other fuel types (petrol, diesel, etc.) over the last six months?”</a:t>
            </a:r>
            <a:endParaRPr lang="en-US" sz="1700" dirty="0">
              <a:solidFill>
                <a:srgbClr val="1A3D63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1A3D63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063240"/>
            <a:ext cx="640080" cy="640080"/>
          </a:xfrm>
          <a:prstGeom prst="ellipse">
            <a:avLst/>
          </a:prstGeom>
          <a:solidFill>
            <a:srgbClr val="5A94D4"/>
          </a:solidFill>
          <a:ln/>
        </p:spPr>
        <p:txBody>
          <a:bodyPr/>
          <a:lstStyle/>
          <a:p>
            <a:endParaRPr lang="en-NG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737360" y="31089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hybrid sales now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what currently differentiates hybrid buyers from petrol and diesel buyers, and use that to make hybrids more appealing despite their higher price.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69748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5A94D4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0" y="3063240"/>
            <a:ext cx="640080" cy="640080"/>
          </a:xfrm>
          <a:prstGeom prst="ellipse">
            <a:avLst/>
          </a:prstGeom>
          <a:solidFill>
            <a:srgbClr val="1A3D63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498080" y="31089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customers for EVs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75120" y="38862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no electric vehicles were sold in this period, hybrid sales data serves as the closest available proxy for electrified-vehicle buyer behavior ahead of 2030.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Motors  |  Hybrid vs. Other Fuel Types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3000" dirty="0">
              <a:solidFill>
                <a:srgbClr val="1A3D6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addressed the business question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94360" cy="594360"/>
          </a:xfrm>
          <a:prstGeom prst="ellipse">
            <a:avLst/>
          </a:prstGeom>
          <a:solidFill>
            <a:srgbClr val="1A3D6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16002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&amp; cleaned the data</a:t>
            </a:r>
            <a:endParaRPr lang="en-US" sz="1600" dirty="0">
              <a:solidFill>
                <a:srgbClr val="1A3D63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508760" y="198424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all 9 columns of 6,738 vehicle sales for missing values, duplicates, incorrect types, and invalid entries. Removed 39 duplicate records and corrected invalid engine-size entries, leaving 6,699 clean records.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62072"/>
            <a:ext cx="594360" cy="594360"/>
          </a:xfrm>
          <a:prstGeom prst="ellipse">
            <a:avLst/>
          </a:prstGeom>
          <a:solidFill>
            <a:srgbClr val="1A3D6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620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08760" y="277063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the data visually</a:t>
            </a:r>
            <a:endParaRPr lang="en-US" sz="1600" dirty="0">
              <a:solidFill>
                <a:srgbClr val="1A3D63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508760" y="315468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single-variable and multi-variable visualizations in Power BI to understand the shape of the data and how fuel types compare.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032504"/>
            <a:ext cx="594360" cy="594360"/>
          </a:xfrm>
          <a:prstGeom prst="ellipse">
            <a:avLst/>
          </a:prstGeom>
          <a:solidFill>
            <a:srgbClr val="1A3D6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3250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394106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hybrid to other fuel types</a:t>
            </a:r>
            <a:endParaRPr lang="en-US" sz="1600" dirty="0">
              <a:solidFill>
                <a:srgbClr val="1A3D63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508760" y="4325112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price, mileage, road tax, MPG, and engine size for Hybrid, Petrol, Diesel, and Other to isolate what makes hybrid different.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202936"/>
            <a:ext cx="594360" cy="594360"/>
          </a:xfrm>
          <a:prstGeom prst="ellipse">
            <a:avLst/>
          </a:prstGeom>
          <a:solidFill>
            <a:srgbClr val="1A3D6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20293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511149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a KPI to monitor</a:t>
            </a:r>
            <a:endParaRPr lang="en-US" sz="1600" dirty="0">
              <a:solidFill>
                <a:srgbClr val="1A3D63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1508760" y="5495544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the comparison into a single trackable metric — the Hybrid Sales Mix Rate — that management can monitor going forward.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Motors  |  Hybrid vs. Other Fuel Types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Finding: Fuel Type Distribution</a:t>
            </a:r>
            <a:endParaRPr lang="en-US" sz="2800" dirty="0">
              <a:solidFill>
                <a:srgbClr val="1A3D63"/>
              </a:solidFill>
            </a:endParaRPr>
          </a:p>
        </p:txBody>
      </p:sp>
      <p:pic>
        <p:nvPicPr>
          <p:cNvPr id="3" name="Image 0" descr="/home/claude/pptx/chart_fuel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6766560" cy="38679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589520" y="1188720"/>
            <a:ext cx="4023360" cy="4206240"/>
          </a:xfrm>
          <a:prstGeom prst="roundRect">
            <a:avLst>
              <a:gd name="adj" fmla="val 2273"/>
            </a:avLst>
          </a:prstGeom>
          <a:solidFill>
            <a:srgbClr val="F5F5F5"/>
          </a:solidFill>
          <a:ln/>
        </p:spPr>
      </p:sp>
      <p:sp>
        <p:nvSpPr>
          <p:cNvPr id="5" name="Text 2"/>
          <p:cNvSpPr/>
          <p:nvPr/>
        </p:nvSpPr>
        <p:spPr>
          <a:xfrm>
            <a:off x="7589520" y="141732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4200" dirty="0">
              <a:solidFill>
                <a:srgbClr val="1A3D63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7863840" y="2286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sales are already Hybrid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63840" y="292608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leads with 4,058 sales, followed by Hybrid at 2,040 (≈30%), then Diesel (496) and Other (105). Hybrid is already a substantial, established part of the business — not a niche category to build from zero.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Motors  |  Hybrid vs. Other Fuel Types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Finding: Price Distribution</a:t>
            </a:r>
            <a:endParaRPr lang="en-US" sz="2800" dirty="0">
              <a:solidFill>
                <a:srgbClr val="1A3D63"/>
              </a:solidFill>
            </a:endParaRPr>
          </a:p>
        </p:txBody>
      </p:sp>
      <p:pic>
        <p:nvPicPr>
          <p:cNvPr id="3" name="Image 0" descr="/home/claude/pptx/chart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6766560" cy="380390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589520" y="1188720"/>
            <a:ext cx="4023360" cy="4206240"/>
          </a:xfrm>
          <a:prstGeom prst="roundRect">
            <a:avLst>
              <a:gd name="adj" fmla="val 2273"/>
            </a:avLst>
          </a:prstGeom>
          <a:solidFill>
            <a:srgbClr val="F5F5F5"/>
          </a:solidFill>
          <a:ln/>
        </p:spPr>
      </p:sp>
      <p:sp>
        <p:nvSpPr>
          <p:cNvPr id="5" name="Text 2"/>
          <p:cNvSpPr/>
          <p:nvPr/>
        </p:nvSpPr>
        <p:spPr>
          <a:xfrm>
            <a:off x="7589520" y="141732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£8K–£15K</a:t>
            </a:r>
            <a:endParaRPr lang="en-US" sz="3400" dirty="0">
              <a:solidFill>
                <a:srgbClr val="1A3D63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7863840" y="2240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where most vehicle prices cluster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63840" y="28803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range from £850 to £59,995, with a long tail toward the top end. Most of the market sits in the budget-to-mid-range band — important context for how a hybrid price premium will land with the average buyer.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Motors  |  Hybrid vs. Other Fuel Types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Finding: Average Price by Fuel Type</a:t>
            </a:r>
            <a:endParaRPr lang="en-US" sz="2600" dirty="0">
              <a:solidFill>
                <a:srgbClr val="1A3D63"/>
              </a:solidFill>
            </a:endParaRPr>
          </a:p>
        </p:txBody>
      </p:sp>
      <p:pic>
        <p:nvPicPr>
          <p:cNvPr id="3" name="Image 0" descr="/home/claude/pptx/chart_priceByFu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6766560" cy="37581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589520" y="1188720"/>
            <a:ext cx="4023360" cy="4206240"/>
          </a:xfrm>
          <a:prstGeom prst="roundRect">
            <a:avLst>
              <a:gd name="adj" fmla="val 2273"/>
            </a:avLst>
          </a:prstGeom>
          <a:solidFill>
            <a:srgbClr val="F5F5F5"/>
          </a:solidFill>
          <a:ln/>
        </p:spPr>
      </p:sp>
      <p:sp>
        <p:nvSpPr>
          <p:cNvPr id="5" name="Text 2"/>
          <p:cNvSpPr/>
          <p:nvPr/>
        </p:nvSpPr>
        <p:spPr>
          <a:xfrm>
            <a:off x="7589520" y="141732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£17,188</a:t>
            </a:r>
            <a:endParaRPr lang="en-US" sz="3200" dirty="0">
              <a:solidFill>
                <a:srgbClr val="1A3D63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7863840" y="21945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Hybrid price vs. £9,755 Petrol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63840" y="288036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Hybrids carry the highest average price and are almost exclusively automatic (99%+). Hybrid buyers pay a real premium up front, bundled with automatic transmission — hybrid should be marketed as a premium purchase, not compared to entry-level manual petrol cars on price alone.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Motors  |  Hybrid vs. Other Fuel Types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Summary</a:t>
            </a:r>
            <a:endParaRPr lang="en-US" sz="3000" dirty="0">
              <a:solidFill>
                <a:srgbClr val="1A3D63"/>
              </a:solidFill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703368"/>
              </p:ext>
            </p:extLst>
          </p:nvPr>
        </p:nvGraphicFramePr>
        <p:xfrm>
          <a:off x="548640" y="1234440"/>
          <a:ext cx="7863840" cy="292608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Diesel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price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£17,188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£9,755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£15,740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mileage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24,415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19,977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41,661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annual tax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MPG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engine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686800" y="1234440"/>
            <a:ext cx="2926080" cy="4754880"/>
          </a:xfrm>
          <a:prstGeom prst="roundRect">
            <a:avLst>
              <a:gd name="adj" fmla="val 3125"/>
            </a:avLst>
          </a:prstGeom>
          <a:solidFill>
            <a:srgbClr val="F5F5F5"/>
          </a:solidFill>
          <a:ln/>
        </p:spPr>
      </p:sp>
      <p:sp>
        <p:nvSpPr>
          <p:cNvPr id="5" name="Text 2"/>
          <p:cNvSpPr/>
          <p:nvPr/>
        </p:nvSpPr>
        <p:spPr>
          <a:xfrm>
            <a:off x="8915400" y="1417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400" dirty="0">
              <a:solidFill>
                <a:srgbClr val="1A3D63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8915400" y="1874520"/>
            <a:ext cx="2514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Hybrids cost more upfront but save £45–£89/year in road tax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Hybrids are the most fuel-efficient fuel type by a wide margin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mileage sits between Petrol and Diesel </a:t>
            </a:r>
            <a:r>
              <a:rPr lang="en-US" sz="1150" dirty="0" err="1">
                <a:solidFill>
                  <a:srgbClr val="1F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i.e</a:t>
            </a:r>
            <a:r>
              <a:rPr lang="en-US" sz="1150" dirty="0">
                <a:solidFill>
                  <a:srgbClr val="1F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is a mixed commuter/family profile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is already ~30% of sales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Motors  |  Hybrid vs. Other Fuel Types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Metric to Monitor</a:t>
            </a:r>
            <a:endParaRPr lang="en-US" sz="3000" dirty="0">
              <a:solidFill>
                <a:srgbClr val="1A3D6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Sales Mix Rate</a:t>
            </a:r>
            <a:endParaRPr lang="en-US" sz="1800" dirty="0">
              <a:solidFill>
                <a:srgbClr val="1A3D63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1A3D6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774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30.5%</a:t>
            </a:r>
            <a:endParaRPr lang="en-US" sz="50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value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2,040 Hybrid sales ÷ 6,699 total sales × 100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51206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40% within 12 months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173736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400" dirty="0">
              <a:solidFill>
                <a:srgbClr val="1A3D63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0" y="205740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(Number of Hybrid Vehicles Sold ÷ Total Vehicles Sold) × 100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60604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>
              <a:solidFill>
                <a:srgbClr val="1A3D63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0" y="2926080"/>
            <a:ext cx="7040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single, trackable number that reflects progress on both business goals at once: growth means more hybrid sales today, and a larger hybrid base is the group most receptive to a future EV purchase.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0" y="388620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business should use it</a:t>
            </a:r>
            <a:endParaRPr lang="en-US" sz="1400" dirty="0">
              <a:solidFill>
                <a:srgbClr val="1A3D63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0" y="4206240"/>
            <a:ext cx="7040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 monthly or quarterly as new sales come in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Track alongside average tax saving per hybrid sold (£45/year vs. Petrol)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Review in the same reporting cycle as overall sales performance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E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Motors  |  Hybrid vs. Other Fuel Types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E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>
              <a:solidFill>
                <a:srgbClr val="1A3D63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307592"/>
            <a:ext cx="548640" cy="548640"/>
          </a:xfrm>
          <a:prstGeom prst="ellipse">
            <a:avLst/>
          </a:prstGeom>
          <a:solidFill>
            <a:srgbClr val="1A3D6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07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17320" y="12344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total cost of ownership</a:t>
            </a:r>
            <a:endParaRPr lang="en-US" sz="1500" dirty="0">
              <a:solidFill>
                <a:srgbClr val="1A3D63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417320" y="160020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hybrids on running-cost savings (£45–£89/yr tax, 20–30% better MPG), not sticker price — this closes the gap the price premium creates.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359152"/>
            <a:ext cx="548640" cy="548640"/>
          </a:xfrm>
          <a:prstGeom prst="ellipse">
            <a:avLst/>
          </a:prstGeom>
          <a:solidFill>
            <a:srgbClr val="1A3D6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591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2860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hybrid as the premium trim</a:t>
            </a:r>
            <a:endParaRPr lang="en-US" sz="1500" dirty="0">
              <a:solidFill>
                <a:srgbClr val="1A3D63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417320" y="265176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hybrids are almost universally automatic, pair hybrid offers with automatic-transmission financing rather than comparing to manual base models.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410712"/>
            <a:ext cx="548640" cy="548640"/>
          </a:xfrm>
          <a:prstGeom prst="ellipse">
            <a:avLst/>
          </a:prstGeom>
          <a:solidFill>
            <a:srgbClr val="1A3D6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3375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hybrid owners as a warm EV audience</a:t>
            </a:r>
            <a:endParaRPr lang="en-US" sz="1500" dirty="0">
              <a:solidFill>
                <a:srgbClr val="1A3D63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417320" y="370332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30% of customers already accepted a cost trade-off similar to EVs — target them first for EV test drives and campaigns.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462272"/>
            <a:ext cx="548640" cy="548640"/>
          </a:xfrm>
          <a:prstGeom prst="ellipse">
            <a:avLst/>
          </a:prstGeom>
          <a:solidFill>
            <a:srgbClr val="1A3D6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4622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43891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KPI every reporting cycle</a:t>
            </a:r>
            <a:endParaRPr lang="en-US" sz="1500" dirty="0">
              <a:solidFill>
                <a:srgbClr val="1A3D63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17320" y="475488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Hybrid Sales Mix Rate alongside overall sales performance, with a stated target, so hybrid growth stays visible and accountable.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A3D63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5321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Hybrids already have real traction and a defensible cost story — the natural bridge to grow EV sales ahead of 2030.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Motors  |  Hybrid vs. Other Fuel Types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1029</Words>
  <Application>Microsoft Office PowerPoint</Application>
  <PresentationFormat>Widescreen</PresentationFormat>
  <Paragraphs>136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7</cp:revision>
  <dcterms:created xsi:type="dcterms:W3CDTF">2026-07-13T11:42:59Z</dcterms:created>
  <dcterms:modified xsi:type="dcterms:W3CDTF">2026-07-21T16:28:30Z</dcterms:modified>
</cp:coreProperties>
</file>